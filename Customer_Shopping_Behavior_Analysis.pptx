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2A3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D2A35"/>
                </a:solidFill>
                <a:latin typeface="Calibri"/>
              </a:rPr>
              <a:t>Customer Lifecycle Distribution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Customers</c:v>
                </c:pt>
              </c:strCache>
            </c:strRef>
          </c:tx>
          <c:spPr>
            <a:solidFill>
              <a:srgbClr val="E873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A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New</c:v>
                  </c:pt>
                  <c:pt idx="1">
                    <c:v>Returning</c:v>
                  </c:pt>
                  <c:pt idx="2">
                    <c:v>Loyal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37.1</c:v>
                </c:pt>
                <c:pt idx="2">
                  <c:v>62.3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D2A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A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2A3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D2A35"/>
                </a:solidFill>
                <a:latin typeface="Calibri"/>
              </a:rPr>
              <a:t>Avg. Order Value by Subscription Status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Order Value</c:v>
                </c:pt>
              </c:strCache>
            </c:strRef>
          </c:tx>
          <c:spPr>
            <a:solidFill>
              <a:srgbClr val="3A6B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A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Non-Subscriber</c:v>
                  </c:pt>
                  <c:pt idx="1">
                    <c:v>Subscriber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58.28</c:v>
                </c:pt>
                <c:pt idx="1">
                  <c:v>65.05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D2A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A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2A3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D2A35"/>
                </a:solidFill>
                <a:latin typeface="Calibri"/>
              </a:rPr>
              <a:t>Revenue by Payment Method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3B2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Venmo</c:v>
                  </c:pt>
                  <c:pt idx="1">
                    <c:v>Debit Card</c:v>
                  </c:pt>
                  <c:pt idx="2">
                    <c:v>Cash</c:v>
                  </c:pt>
                  <c:pt idx="3">
                    <c:v>Bank Transfer</c:v>
                  </c:pt>
                  <c:pt idx="4">
                    <c:v>Credit Card</c:v>
                  </c:pt>
                  <c:pt idx="5">
                    <c:v>PayPal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40399</c:v>
                </c:pt>
                <c:pt idx="1">
                  <c:v>39848</c:v>
                </c:pt>
                <c:pt idx="2">
                  <c:v>39655</c:v>
                </c:pt>
                <c:pt idx="3">
                  <c:v>38935</c:v>
                </c:pt>
                <c:pt idx="4">
                  <c:v>37897</c:v>
                </c:pt>
                <c:pt idx="5">
                  <c:v>37467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D2A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 Behavior Analysis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analytics project — from raw data to dashboard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89508" y="4160520"/>
            <a:ext cx="2331720" cy="502920"/>
          </a:xfrm>
          <a:prstGeom prst="roundRect">
            <a:avLst>
              <a:gd name="adj" fmla="val 50909"/>
            </a:avLst>
          </a:prstGeom>
          <a:ln w="15875">
            <a:solidFill>
              <a:srgbClr val="3A6B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9508" y="4160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49828" y="4160520"/>
            <a:ext cx="2331720" cy="502920"/>
          </a:xfrm>
          <a:prstGeom prst="roundRect">
            <a:avLst>
              <a:gd name="adj" fmla="val 50909"/>
            </a:avLst>
          </a:prstGeom>
          <a:ln w="15875">
            <a:solidFill>
              <a:srgbClr val="3A6B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49828" y="4160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POSTGRESQL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0148" y="4160520"/>
            <a:ext cx="2331720" cy="502920"/>
          </a:xfrm>
          <a:prstGeom prst="roundRect">
            <a:avLst>
              <a:gd name="adj" fmla="val 50909"/>
            </a:avLst>
          </a:prstGeom>
          <a:ln w="15875">
            <a:solidFill>
              <a:srgbClr val="3A6B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0148" y="4160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770468" y="4160520"/>
            <a:ext cx="2331720" cy="502920"/>
          </a:xfrm>
          <a:prstGeom prst="roundRect">
            <a:avLst>
              <a:gd name="adj" fmla="val 50909"/>
            </a:avLst>
          </a:prstGeom>
          <a:ln w="15875">
            <a:solidFill>
              <a:srgbClr val="3A6B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0468" y="4160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Marisa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11135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company wants to understand how demographics, discounts, reviews, seasons, and payment preferences drive purchasing behavior and repeat purchases.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3A6B7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892808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&amp; Pattern Tracking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19456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buying behaviors across customer segments.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70168" y="1920240"/>
            <a:ext cx="502920" cy="502920"/>
          </a:xfrm>
          <a:prstGeom prst="ellipse">
            <a:avLst/>
          </a:prstGeom>
          <a:solidFill>
            <a:srgbClr val="E8735C"/>
          </a:solidFill>
          <a:ln/>
        </p:spPr>
      </p:sp>
      <p:sp>
        <p:nvSpPr>
          <p:cNvPr id="9" name="Text 7"/>
          <p:cNvSpPr/>
          <p:nvPr/>
        </p:nvSpPr>
        <p:spPr>
          <a:xfrm>
            <a:off x="6370168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55968" y="1892808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55968" y="219456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online vs. offline purchasing trends.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218688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Impact Analysis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52044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how reviews, discounts, and payment methods drive conversion and retention.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70168" y="3246120"/>
            <a:ext cx="502920" cy="502920"/>
          </a:xfrm>
          <a:prstGeom prst="ellipse">
            <a:avLst/>
          </a:prstGeom>
          <a:solidFill>
            <a:srgbClr val="3A6B75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55968" y="3218688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55968" y="352044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data-driven recommendations for marketing and product placement.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pipeline, from raw CSV to two production-style BI dashboards.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2600" y="246888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EDE6DC"/>
          </a:solidFill>
          <a:ln/>
        </p:spPr>
      </p:sp>
      <p:sp>
        <p:nvSpPr>
          <p:cNvPr id="5" name="Shape 3"/>
          <p:cNvSpPr/>
          <p:nvPr/>
        </p:nvSpPr>
        <p:spPr>
          <a:xfrm>
            <a:off x="1619860" y="2743200"/>
            <a:ext cx="640080" cy="640080"/>
          </a:xfrm>
          <a:prstGeom prst="ellipse">
            <a:avLst/>
          </a:prstGeom>
          <a:solidFill>
            <a:srgbClr val="3A6B75"/>
          </a:solidFill>
          <a:ln/>
        </p:spPr>
      </p:sp>
      <p:sp>
        <p:nvSpPr>
          <p:cNvPr id="6" name="Text 4"/>
          <p:cNvSpPr/>
          <p:nvPr/>
        </p:nvSpPr>
        <p:spPr>
          <a:xfrm>
            <a:off x="161986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19760" y="3566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5480" y="3886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cleaning, validation, feature engineering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97200" y="3154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53232" y="246888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EDE6DC"/>
          </a:solidFill>
          <a:ln/>
        </p:spPr>
      </p:sp>
      <p:sp>
        <p:nvSpPr>
          <p:cNvPr id="11" name="Shape 9"/>
          <p:cNvSpPr/>
          <p:nvPr/>
        </p:nvSpPr>
        <p:spPr>
          <a:xfrm>
            <a:off x="4390492" y="2743200"/>
            <a:ext cx="640080" cy="640080"/>
          </a:xfrm>
          <a:prstGeom prst="ellipse">
            <a:avLst/>
          </a:prstGeom>
          <a:solidFill>
            <a:srgbClr val="E8735C"/>
          </a:solidFill>
          <a:ln/>
        </p:spPr>
      </p:sp>
      <p:sp>
        <p:nvSpPr>
          <p:cNvPr id="12" name="Text 10"/>
          <p:cNvSpPr/>
          <p:nvPr/>
        </p:nvSpPr>
        <p:spPr>
          <a:xfrm>
            <a:off x="4390492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90392" y="3566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6112" y="3886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SQL queries — CTEs, window functions, a reusable view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67832" y="3154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23864" y="246888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EDE6DC"/>
          </a:solidFill>
          <a:ln/>
        </p:spPr>
      </p:sp>
      <p:sp>
        <p:nvSpPr>
          <p:cNvPr id="17" name="Shape 15"/>
          <p:cNvSpPr/>
          <p:nvPr/>
        </p:nvSpPr>
        <p:spPr>
          <a:xfrm>
            <a:off x="7161124" y="2743200"/>
            <a:ext cx="640080" cy="640080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8" name="Text 16"/>
          <p:cNvSpPr/>
          <p:nvPr/>
        </p:nvSpPr>
        <p:spPr>
          <a:xfrm>
            <a:off x="7161124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61024" y="3566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6744" y="3886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measures, 4-page interactive report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38464" y="3154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94496" y="246888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EDE6DC"/>
          </a:solidFill>
          <a:ln/>
        </p:spPr>
      </p:sp>
      <p:sp>
        <p:nvSpPr>
          <p:cNvPr id="23" name="Shape 21"/>
          <p:cNvSpPr/>
          <p:nvPr/>
        </p:nvSpPr>
        <p:spPr>
          <a:xfrm>
            <a:off x="9931756" y="2743200"/>
            <a:ext cx="640080" cy="640080"/>
          </a:xfrm>
          <a:prstGeom prst="ellipse">
            <a:avLst/>
          </a:prstGeom>
          <a:solidFill>
            <a:srgbClr val="3A6B75"/>
          </a:solidFill>
          <a:ln/>
        </p:spPr>
      </p:sp>
      <p:sp>
        <p:nvSpPr>
          <p:cNvPr id="24" name="Text 22"/>
          <p:cNvSpPr/>
          <p:nvPr/>
        </p:nvSpPr>
        <p:spPr>
          <a:xfrm>
            <a:off x="9931756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131656" y="3566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77376" y="3886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fields, geographic map, 4 dashboards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A6B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390824" y="219456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7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390824" y="3246120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33008" y="219456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233008" y="3246120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states represented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075191" y="219456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A6B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9075191" y="3246120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answering business questions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DE6D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40740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dataset is synthetically generated to model realistic, non-degenerate relationships (e.g., subscription status correlates with — rather than perfectly determines — gender) so the analysis below reflects genuine methodology rather than manufactured results.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1: A Retention-Heavy Customer Base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explain far less about spend than customer lifecycle stage does.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965960"/>
            <a:ext cx="52422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62.3% of customers are Loyal (11+ prior purchases); only 0.6% are New — a base built on retention, not visible acquisition.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 is nearly flat across every age bracket (all within cents of $60).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shows only a mild gap: Male $60.78 vs. Female $59.15 avg. spend.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demographics alone are weak predictors of spend — behavioral segmentation (subscription, discount use) matters more.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2: Subscriptions Outperform Discounts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spend driver in this data isn't a discount — it's subscription status.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965960"/>
            <a:ext cx="52422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spend $65.05 on average vs. $58.28 for non-subscribers.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also use discount codes far more often — 57% of orders vs. 35%.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discount-driven spend bump itself (+$1.15 to +$1.89 by age group) did NOT clear statistical significance (Welch's t-test, p &gt; 0.05 in most groups).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growing the subscriber base is a more defensible lever than leaning on discounts alone.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3: Payment, Channel &amp; Reviews Show Little Signal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factor named in the business problem turned out to matter equally.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965960"/>
            <a:ext cx="52422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broadly even across all six payment methods (all within $37K-$40K) — no method stands out as a driver.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shipping type as a channel proxy, in-store pickup and shipped orders show nearly identical avg. spend ($59.76 vs. $60.11).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the dataset has no true online/offline field — this is a directional proxy, not a precise channel split.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 is nearly flat across lifecycle stages (3.60-3.70) — a weak retention signal in this data.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4-page interactive report, built on DAX measures and a shared data model.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10048" cy="1874520"/>
          </a:xfrm>
          <a:prstGeom prst="roundRect">
            <a:avLst>
              <a:gd name="adj" fmla="val 3902"/>
            </a:avLst>
          </a:prstGeom>
          <a:solidFill>
            <a:srgbClr val="EDE6DC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2130552"/>
            <a:ext cx="54864" cy="292608"/>
          </a:xfrm>
          <a:prstGeom prst="rect">
            <a:avLst/>
          </a:prstGeom>
          <a:solidFill>
            <a:srgbClr val="3A6B7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93976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496312"/>
            <a:ext cx="4907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revenue, AOV, subscription rate, % Loyal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Lifecycle donut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/ Category / Gender / Subscription slicers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33008" y="1965960"/>
            <a:ext cx="5410048" cy="1874520"/>
          </a:xfrm>
          <a:prstGeom prst="roundRect">
            <a:avLst>
              <a:gd name="adj" fmla="val 3902"/>
            </a:avLst>
          </a:prstGeom>
          <a:solidFill>
            <a:srgbClr val="EDE6DC"/>
          </a:solidFill>
          <a:ln/>
        </p:spPr>
      </p:sp>
      <p:sp>
        <p:nvSpPr>
          <p:cNvPr id="9" name="Shape 7"/>
          <p:cNvSpPr/>
          <p:nvPr/>
        </p:nvSpPr>
        <p:spPr>
          <a:xfrm>
            <a:off x="6397600" y="2130552"/>
            <a:ext cx="54864" cy="292608"/>
          </a:xfrm>
          <a:prstGeom prst="rect">
            <a:avLst/>
          </a:prstGeom>
          <a:solidFill>
            <a:srgbClr val="E8735C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48" y="2093976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53048" y="2496312"/>
            <a:ext cx="4907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 &amp; Gender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 Rating by Customer Status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by Subscription &amp; Discount Use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410048" cy="1874520"/>
          </a:xfrm>
          <a:prstGeom prst="roundRect">
            <a:avLst>
              <a:gd name="adj" fmla="val 3902"/>
            </a:avLst>
          </a:prstGeom>
          <a:solidFill>
            <a:srgbClr val="EDE6DC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4233672"/>
            <a:ext cx="54864" cy="292608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97096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&amp; Channel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4599432"/>
            <a:ext cx="4907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Location (map)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Payment Method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 by Channel Proxy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33008" y="4069080"/>
            <a:ext cx="5410048" cy="1874520"/>
          </a:xfrm>
          <a:prstGeom prst="roundRect">
            <a:avLst>
              <a:gd name="adj" fmla="val 3902"/>
            </a:avLst>
          </a:prstGeom>
          <a:solidFill>
            <a:srgbClr val="EDE6DC"/>
          </a:solidFill>
          <a:ln/>
        </p:spPr>
      </p:sp>
      <p:sp>
        <p:nvSpPr>
          <p:cNvPr id="17" name="Shape 15"/>
          <p:cNvSpPr/>
          <p:nvPr/>
        </p:nvSpPr>
        <p:spPr>
          <a:xfrm>
            <a:off x="6397600" y="4233672"/>
            <a:ext cx="54864" cy="292608"/>
          </a:xfrm>
          <a:prstGeom prst="rect">
            <a:avLst/>
          </a:prstGeom>
          <a:solidFill>
            <a:srgbClr val="3A6B75"/>
          </a:solidFill>
          <a:ln/>
        </p:spPr>
      </p:sp>
      <p:sp>
        <p:nvSpPr>
          <p:cNvPr id="18" name="Text 16"/>
          <p:cNvSpPr/>
          <p:nvPr/>
        </p:nvSpPr>
        <p:spPr>
          <a:xfrm>
            <a:off x="6553048" y="4197096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&amp; Products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53048" y="4599432"/>
            <a:ext cx="4907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vs. non-discount spend by Age Group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 Rating by Item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Sold Count table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four-page structure, rebuilt with calculated fields and dashboard actions.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10048" cy="1874520"/>
          </a:xfrm>
          <a:prstGeom prst="roundRect">
            <a:avLst>
              <a:gd name="adj" fmla="val 3902"/>
            </a:avLst>
          </a:prstGeom>
          <a:solidFill>
            <a:srgbClr val="EDE6DC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2130552"/>
            <a:ext cx="54864" cy="292608"/>
          </a:xfrm>
          <a:prstGeom prst="rect">
            <a:avLst/>
          </a:prstGeom>
          <a:solidFill>
            <a:srgbClr val="3A6B7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93976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Dashboard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496312"/>
            <a:ext cx="4907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Revenue, Avg Order, Subscribers, Lifecycle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33008" y="1965960"/>
            <a:ext cx="5410048" cy="1874520"/>
          </a:xfrm>
          <a:prstGeom prst="roundRect">
            <a:avLst>
              <a:gd name="adj" fmla="val 3902"/>
            </a:avLst>
          </a:prstGeom>
          <a:solidFill>
            <a:srgbClr val="EDE6DC"/>
          </a:solidFill>
          <a:ln/>
        </p:spPr>
      </p:sp>
      <p:sp>
        <p:nvSpPr>
          <p:cNvPr id="9" name="Shape 7"/>
          <p:cNvSpPr/>
          <p:nvPr/>
        </p:nvSpPr>
        <p:spPr>
          <a:xfrm>
            <a:off x="6397600" y="2130552"/>
            <a:ext cx="54864" cy="292608"/>
          </a:xfrm>
          <a:prstGeom prst="rect">
            <a:avLst/>
          </a:prstGeom>
          <a:solidFill>
            <a:srgbClr val="E8735C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48" y="2093976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Dashboard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53048" y="2496312"/>
            <a:ext cx="4907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 &amp; Gender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Rating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History by Subscription Status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410048" cy="1874520"/>
          </a:xfrm>
          <a:prstGeom prst="roundRect">
            <a:avLst>
              <a:gd name="adj" fmla="val 3902"/>
            </a:avLst>
          </a:prstGeom>
          <a:solidFill>
            <a:srgbClr val="EDE6DC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4233672"/>
            <a:ext cx="54864" cy="292608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97096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&amp; Channel Dashboard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4599432"/>
            <a:ext cx="4907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Location (filled map)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Payment Type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Type (channel proxy)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33008" y="4069080"/>
            <a:ext cx="5410048" cy="1874520"/>
          </a:xfrm>
          <a:prstGeom prst="roundRect">
            <a:avLst>
              <a:gd name="adj" fmla="val 3902"/>
            </a:avLst>
          </a:prstGeom>
          <a:solidFill>
            <a:srgbClr val="EDE6DC"/>
          </a:solidFill>
          <a:ln/>
        </p:spPr>
      </p:sp>
      <p:sp>
        <p:nvSpPr>
          <p:cNvPr id="17" name="Shape 15"/>
          <p:cNvSpPr/>
          <p:nvPr/>
        </p:nvSpPr>
        <p:spPr>
          <a:xfrm>
            <a:off x="6397600" y="4233672"/>
            <a:ext cx="54864" cy="292608"/>
          </a:xfrm>
          <a:prstGeom prst="rect">
            <a:avLst/>
          </a:prstGeom>
          <a:solidFill>
            <a:srgbClr val="3A6B75"/>
          </a:solidFill>
          <a:ln/>
        </p:spPr>
      </p:sp>
      <p:sp>
        <p:nvSpPr>
          <p:cNvPr id="18" name="Text 16"/>
          <p:cNvSpPr/>
          <p:nvPr/>
        </p:nvSpPr>
        <p:spPr>
          <a:xfrm>
            <a:off x="6553048" y="4197096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&amp; Products Dashboard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53048" y="4599432"/>
            <a:ext cx="4907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and Discounts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Rated Items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Sold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3A6B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1892808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subscription growth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219456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clearest, most defensible lever for both spend and discount engagement found in this analysis.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70168" y="1920240"/>
            <a:ext cx="502920" cy="502920"/>
          </a:xfrm>
          <a:prstGeom prst="ellipse">
            <a:avLst/>
          </a:prstGeom>
          <a:solidFill>
            <a:srgbClr val="E8735C"/>
          </a:solidFill>
          <a:ln/>
        </p:spPr>
      </p:sp>
      <p:sp>
        <p:nvSpPr>
          <p:cNvPr id="8" name="Text 6"/>
          <p:cNvSpPr/>
          <p:nvPr/>
        </p:nvSpPr>
        <p:spPr>
          <a:xfrm>
            <a:off x="6370168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55968" y="1892808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new-customer gap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55968" y="219456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0.6% New suggests an acquisition problem, not a retention one — worth a dedicated look.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3401568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lead with the discount-spend bump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70332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Directionally positive but not statistically confirmed at current sample sizes.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70168" y="3429000"/>
            <a:ext cx="502920" cy="502920"/>
          </a:xfrm>
          <a:prstGeom prst="ellipse">
            <a:avLst/>
          </a:prstGeom>
          <a:solidFill>
            <a:srgbClr val="3A6B75"/>
          </a:solidFill>
          <a:ln/>
        </p:spPr>
      </p:sp>
      <p:sp>
        <p:nvSpPr>
          <p:cNvPr id="16" name="Text 14"/>
          <p:cNvSpPr/>
          <p:nvPr/>
        </p:nvSpPr>
        <p:spPr>
          <a:xfrm>
            <a:off x="6370168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55968" y="3401568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true channel field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55968" y="370332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shipping-based online/offline proxy is directional only — real data collection would strengthen this.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EDE6DC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2130552"/>
            <a:ext cx="54864" cy="292608"/>
          </a:xfrm>
          <a:prstGeom prst="rect">
            <a:avLst/>
          </a:prstGeom>
          <a:solidFill>
            <a:srgbClr val="3A6B7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93976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496312"/>
            <a:ext cx="30123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 cleaning &amp; validation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 IQR outlier checks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(age bins, segments)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38218" y="196596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EDE6DC"/>
          </a:solidFill>
          <a:ln/>
        </p:spPr>
      </p:sp>
      <p:sp>
        <p:nvSpPr>
          <p:cNvPr id="8" name="Shape 6"/>
          <p:cNvSpPr/>
          <p:nvPr/>
        </p:nvSpPr>
        <p:spPr>
          <a:xfrm>
            <a:off x="4502810" y="2130552"/>
            <a:ext cx="54864" cy="292608"/>
          </a:xfrm>
          <a:prstGeom prst="rect">
            <a:avLst/>
          </a:prstGeom>
          <a:solidFill>
            <a:srgbClr val="E8735C"/>
          </a:solidFill>
          <a:ln/>
        </p:spPr>
      </p:sp>
      <p:sp>
        <p:nvSpPr>
          <p:cNvPr id="9" name="Text 7"/>
          <p:cNvSpPr/>
          <p:nvPr/>
        </p:nvSpPr>
        <p:spPr>
          <a:xfrm>
            <a:off x="4658258" y="2093976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58258" y="2496312"/>
            <a:ext cx="30123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&amp; window functions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views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27797" y="196596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EDE6DC"/>
          </a:solidFill>
          <a:ln/>
        </p:spPr>
      </p:sp>
      <p:sp>
        <p:nvSpPr>
          <p:cNvPr id="12" name="Shape 10"/>
          <p:cNvSpPr/>
          <p:nvPr/>
        </p:nvSpPr>
        <p:spPr>
          <a:xfrm>
            <a:off x="8292389" y="2130552"/>
            <a:ext cx="54864" cy="292608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13" name="Text 11"/>
          <p:cNvSpPr/>
          <p:nvPr/>
        </p:nvSpPr>
        <p:spPr>
          <a:xfrm>
            <a:off x="8447837" y="2093976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47837" y="2496312"/>
            <a:ext cx="30123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(Welch's t-test)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signal from noise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EDE6DC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" y="4050792"/>
            <a:ext cx="54864" cy="292608"/>
          </a:xfrm>
          <a:prstGeom prst="rect">
            <a:avLst/>
          </a:prstGeom>
          <a:solidFill>
            <a:srgbClr val="3A6B7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014216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8680" y="4416552"/>
            <a:ext cx="30123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interactive reports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38218" y="388620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EDE6DC"/>
          </a:solidFill>
          <a:ln/>
        </p:spPr>
      </p:sp>
      <p:sp>
        <p:nvSpPr>
          <p:cNvPr id="20" name="Shape 18"/>
          <p:cNvSpPr/>
          <p:nvPr/>
        </p:nvSpPr>
        <p:spPr>
          <a:xfrm>
            <a:off x="4502810" y="4050792"/>
            <a:ext cx="54864" cy="292608"/>
          </a:xfrm>
          <a:prstGeom prst="rect">
            <a:avLst/>
          </a:prstGeom>
          <a:solidFill>
            <a:srgbClr val="E8735C"/>
          </a:solidFill>
          <a:ln/>
        </p:spPr>
      </p:sp>
      <p:sp>
        <p:nvSpPr>
          <p:cNvPr id="21" name="Text 19"/>
          <p:cNvSpPr/>
          <p:nvPr/>
        </p:nvSpPr>
        <p:spPr>
          <a:xfrm>
            <a:off x="4658258" y="4014216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58258" y="4416552"/>
            <a:ext cx="30123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actions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mapping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27797" y="388620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EDE6DC"/>
          </a:solidFill>
          <a:ln/>
        </p:spPr>
      </p:sp>
      <p:sp>
        <p:nvSpPr>
          <p:cNvPr id="24" name="Shape 22"/>
          <p:cNvSpPr/>
          <p:nvPr/>
        </p:nvSpPr>
        <p:spPr>
          <a:xfrm>
            <a:off x="8292389" y="4050792"/>
            <a:ext cx="54864" cy="292608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25" name="Text 23"/>
          <p:cNvSpPr/>
          <p:nvPr/>
        </p:nvSpPr>
        <p:spPr>
          <a:xfrm>
            <a:off x="8447837" y="4014216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447837" y="4416552"/>
            <a:ext cx="30123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Stakeholder-ready findings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caveats &amp; limitations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package: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457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6D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customer_shopping_trends.ipynb — Python cleaning + SQL analysis notebook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6D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customer_shopping_behavior_v2.csv — cleaned, analysis-ready dataset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6D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Customer_Trends_Dashboard.pbix — Power BI report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6D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Customer_Trends.twb — Tableau workbook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Marisa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2026-08-05T19:20:11Z</dcterms:created>
  <dcterms:modified xsi:type="dcterms:W3CDTF">2026-08-05T19:20:11Z</dcterms:modified>
</cp:coreProperties>
</file>